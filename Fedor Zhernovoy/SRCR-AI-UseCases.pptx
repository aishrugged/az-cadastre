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acGWfrtBfq2EXEk54s5A8gHoI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292A5E-FA57-4703-A5A3-584781C4295B}">
  <a:tblStyle styleId="{A1292A5E-FA57-4703-A5A3-584781C429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4389120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82296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822960" y="19202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STATE REAL ESTATE CADASTRE AND REGISTRY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233172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Application Roadmap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 the Initial State Registration Workflow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3931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Five prioritised use cases — technology, prerequisites and implementation barriers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640080" y="38404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AI Use Cases —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640080" y="91440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Five identified opportunities, ordered by implementation readiness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" name="Google Shape;24;p2"/>
          <p:cNvGraphicFramePr/>
          <p:nvPr/>
        </p:nvGraphicFramePr>
        <p:xfrm>
          <a:off x="6400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{A1292A5E-FA57-4703-A5A3-584781C4295B}</a:tableStyleId>
              </a:tblPr>
              <a:tblGrid>
                <a:gridCol w="548650"/>
                <a:gridCol w="4114800"/>
                <a:gridCol w="3931925"/>
                <a:gridCol w="13990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Support (Head's Endorsement)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NLP · LLM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Multi-Database Fuzzy Name Matching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NLP · Fuzzy Search · API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Short–Medium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Compliance Verification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OCR · Classification · Rules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Short–Medium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Fee Calculation Assistance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Supervised ML · Pattern Recognition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Protection Zone Assessment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 · Spatial AI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5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Google Shape;25;p2"/>
          <p:cNvSpPr/>
          <p:nvPr/>
        </p:nvSpPr>
        <p:spPr>
          <a:xfrm>
            <a:off x="640080" y="6080760"/>
            <a:ext cx="10908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Monthly application volume: ~2,500 | Total workflow steps: 100+ | Divisions involved: 14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640080" y="384048"/>
            <a:ext cx="804672" cy="80467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0080" y="384048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609344" y="4206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USE CASE 1 OF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609344" y="676656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Decision Support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(Head's Endorsement)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080" y="1481328"/>
            <a:ext cx="10908792" cy="384048"/>
          </a:xfrm>
          <a:prstGeom prst="roundRect">
            <a:avLst>
              <a:gd fmla="val 1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536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1143000" y="148132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WHERE IN THE WORKFLOW:  Division for State Registration of Rights — Head review stage (Step 8)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008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77240" y="2157984"/>
            <a:ext cx="402336" cy="40233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129844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CURRENT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7724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Circulation notes from all divisions are currently recorded on paper. The head reviews each division's notes manually and issues a written endorsement. This creates a sequential bottleneck dependent on paper availability.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32816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4465320" y="2157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90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498652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HOW AI HELPS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46532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AI reads and aggregates all digitised division notes, identifies conflicts or anomalies, and generates a structured recommendation — 'Proceed' or 'Refuse' — with supporting rationale. The head reviews the AI summary and confirms.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01624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153400" y="2157984"/>
            <a:ext cx="402336" cy="40233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398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867460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15340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NLP · Large Language Model (LLM) · Document Classification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04672" y="4251960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1261872" y="4233672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0467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digitisation of circulation notes (elimination of parallel paper workflow)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17220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336792" y="4251960"/>
            <a:ext cx="347472" cy="347472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6793992" y="4233672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IMPLEMENTATION BARRIER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3679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Currently paper-based notes cannot be fed to a model. This use case is contingent on completing the digital transition of the circulation process first.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680192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0853928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1027664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1201400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1375136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640080" y="384048"/>
            <a:ext cx="804672" cy="80467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40080" y="384048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609344" y="4206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USE CASE 2 OF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609344" y="676656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Multi-Database Name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Matching (Fuzzy Search)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40080" y="1481328"/>
            <a:ext cx="10908792" cy="384048"/>
          </a:xfrm>
          <a:prstGeom prst="roundRect">
            <a:avLst>
              <a:gd fmla="val 1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536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1143000" y="148132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WHERE IN THE WORKFLOW:  Archive Division — Steps 3.3, 3.15, 3.19 | Rights Registration Division — Steps 7.1, 7.4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77240" y="2157984"/>
            <a:ext cx="402336" cy="40233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129844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CURRENT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7724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The same name/document number query is run manually across 6–7 separate databases (NRS, 4 Excel files, Inven, technical passport database). Names appear in different transliterations across decades of records; OCR errors from scanned documents further reduce search accuracy.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32816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465320" y="2157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90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498652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HOW AI HELPS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46532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unified search layer sends a single query to all sources simultaneously. An NLP-based fuzzy matching model surfaces near-identical names with a probability score, enabling staff to review probable matches rather than running exhaustive manual searches.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01624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153400" y="2157984"/>
            <a:ext cx="402336" cy="40233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398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867460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15340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NLP · Fuzzy String Matching · API Integration / Middleware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008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04672" y="4251960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1261872" y="4233672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0467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Databases accessible via a unified API layer; historical records partially digitised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17220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336792" y="4251960"/>
            <a:ext cx="347472" cy="347472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6793992" y="4233672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IMPLEMENTATION BARRIER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33679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Excel-based databases are not queryable via API in their current state. Integration work is required before AI layer can be added.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0680192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853928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1027664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1201400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1375136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640080" y="384048"/>
            <a:ext cx="804672" cy="80467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40080" y="384048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609344" y="4206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USE CASE 3 OF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609344" y="676656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Document Compliance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Verification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1481328"/>
            <a:ext cx="10908792" cy="384048"/>
          </a:xfrm>
          <a:prstGeom prst="roundRect">
            <a:avLst>
              <a:gd fmla="val 1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536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143000" y="148132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WHERE IN THE WORKFLOW:  Document Acceptance Division — Step 1 | Legal Division — Step 6.1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4008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77240" y="2157984"/>
            <a:ext cx="402336" cy="40233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29844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CURRENT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7724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Each property type has a legislatively defined list of required documents. Staff manually check presence, format, seal, signature and licence date for each submission — currently duplicated across both the acceptance and legal divisions.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32816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465320" y="2157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90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498652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HOW AI HELPS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46532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AI reads documents via OCR, classifies each type, checks completeness against the required list, and verifies format compliance (licence date, seal, signature). Output: Green / Amber / Red flag with annotated gaps. Staff review flagged cases only.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01624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153400" y="2157984"/>
            <a:ext cx="402336" cy="40233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398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867460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15340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OCR · Document Classification · Rule-based AI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04672" y="4251960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1261872" y="4233672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0467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 submitted digitally (scanned or electronic)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7220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36792" y="4251960"/>
            <a:ext cx="347472" cy="347472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6793992" y="4233672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IMPLEMENTATION BARRIER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3679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Where documents are submitted in paper-only form, scanning at point of acceptance is a prerequisite.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0680192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0853928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027664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1201400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1375136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640080" y="384048"/>
            <a:ext cx="804672" cy="80467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40080" y="384048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609344" y="4206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USE CASE 4 OF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609344" y="676656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Service Fee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Calculation Assistance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40080" y="1481328"/>
            <a:ext cx="10908792" cy="384048"/>
          </a:xfrm>
          <a:prstGeom prst="roundRect">
            <a:avLst>
              <a:gd fmla="val 1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536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1143000" y="148132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WHERE IN THE WORKFLOW:  Finance Division — Steps 12.1–12.3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008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777240" y="2157984"/>
            <a:ext cx="402336" cy="40233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129844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CURRENT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7724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Service fee is calculated based on the Law on State Duty and Tariff Council decisions, using area figures that vary by context — the applicable area field is determined by the staff member's judgement. This creates inconsistency and is a major source of waiting time (avg. 16.69 hours).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32816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465320" y="2157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90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498652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HOW AI HELPS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46532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AI learns from historical decisions — which area field was applied and which tariff rule was used. For new applications, it recommends the applicable area, rule and amount with a confidence score. Staff confirm or override. Inconsistencies across staff are automatically flagged.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01624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153400" y="2157984"/>
            <a:ext cx="402336" cy="40233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398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867460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340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Supervised ML · Pattern Recognition · Decision Support Model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008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804672" y="4251960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1261872" y="4233672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0467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Historical fee decisions structured and accessible in NRS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17220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336792" y="4251960"/>
            <a:ext cx="347472" cy="347472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/>
          <p:nvPr/>
        </p:nvSpPr>
        <p:spPr>
          <a:xfrm>
            <a:off x="6793992" y="4233672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IMPLEMENTATION BARRIER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33679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Variability in which area field is used introduces ambiguity that requires model training on sufficient labelled historical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0680192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0853928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1027664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11201400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11375136" y="6537960"/>
            <a:ext cx="91440" cy="91440"/>
          </a:xfrm>
          <a:prstGeom prst="ellipse">
            <a:avLst/>
          </a:prstGeom>
          <a:solidFill>
            <a:srgbClr val="D7D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640080" y="384048"/>
            <a:ext cx="804672" cy="80467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40080" y="384048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609344" y="4206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USE CASE 5 OF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609344" y="676656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Protection Zone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Assessment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40080" y="1481328"/>
            <a:ext cx="10908792" cy="384048"/>
          </a:xfrm>
          <a:prstGeom prst="roundRect">
            <a:avLst>
              <a:gd fmla="val 1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536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1143000" y="148132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WHERE IN THE WORKFLOW:  Cadastre Division — Step 5.5 | Legal Division — Step 6.2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4008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77240" y="2157984"/>
            <a:ext cx="402336" cy="402336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129844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CURRENT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7724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Staff manually verify whether a property falls within a protection zone (pipeline, power line, water body, transport corridor) using ArcGIS. When a zone is identified, the case is manually referred to the relevant authority. This adds time and depends on individual staff familiarity with zone boundaries.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32816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4465320" y="2157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90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498652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HOW AI HELPS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46532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Property coordinates are already in the system. A GIS-based AI model automatically overlays coordinates against all protection zone layers, identifies any applicable zones, applies relevant regulatory conditions, and generates a referral recommendation to the appropriate authority.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016240" y="2029968"/>
            <a:ext cx="3532632" cy="1920240"/>
          </a:xfrm>
          <a:prstGeom prst="roundRect">
            <a:avLst>
              <a:gd fmla="val 3333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153400" y="2157984"/>
            <a:ext cx="402336" cy="40233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3984" y="2258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8674608" y="2157984"/>
            <a:ext cx="2755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A0AD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153400" y="2633472"/>
            <a:ext cx="325831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GIS Spatial Analysis · AI / ML Overlay Detection · Automated Referral Logic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008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804672" y="4251960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1261872" y="4233672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0467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Property coordinates consistently recorded in NECAS/ArcGIS; protection zone layers up to date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172200" y="4114800"/>
            <a:ext cx="5376672" cy="2450592"/>
          </a:xfrm>
          <a:prstGeom prst="roundRect">
            <a:avLst>
              <a:gd fmla="val 2612" name="adj"/>
            </a:avLst>
          </a:prstGeom>
          <a:solidFill>
            <a:srgbClr val="F5F6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336792" y="4251960"/>
            <a:ext cx="347472" cy="347472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6793992" y="4233672"/>
            <a:ext cx="4626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IMPLEMENTATION BARRIER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336792" y="4645152"/>
            <a:ext cx="50840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Accuracy depends on the completeness and currency of the underlying GIS zone datasets.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0680192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10853928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11027664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11201400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1375136" y="6537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2026-07-01T05:03:53Z</dcterms:created>
  <dc:creator>PptxGenJS</dc:creator>
</cp:coreProperties>
</file>